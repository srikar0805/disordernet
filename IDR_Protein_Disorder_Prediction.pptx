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98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Open by framing the project as residue-level prediction of intrinsically disordered regions from protein sequence.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Mention the team members: Mithilesh Gollapelli, Veera Neerukonda, and Sai Srikar Reddy.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Emphasize the final direction: a hybrid model combining ESM-2 embeddings, handcrafted IDR features, CNN, Transformer, and BiLSTM components.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Explain the biological motivation first. Some proteins fold into stable 3-D structures, but many functional regions stay flexible.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These intrinsically disordered regions matter because they appear in signaling, regulation, cancer, and neurodegenerative disease biology.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reason prediction is useful is that experimentally measuring disorder for every protein is slow and expensive.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Define the machine learning task clearly: every amino acid residue gets a binary label, ordered or disordered.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input is a protein sequence, and the output is a probability for each residue position.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Call out the protein-level split. This prevents residues from the same protein leaking into both training and testing.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Describe the data strategy. The notebook tries DisProt first, but it also supports bundled CAID reference data so the project can run reliably offline.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For a stronger experiment, CAID2 is used for training and validation while CAID3 is held out as an external test set when both files are available.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Each source is normalized into the same table: protein ID, sequence, and residue-level disorder labels.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Explain why the feature set changed. ESM-2 gives context-aware residue embeddings, while handcrafted features encode IDR-specific biochemical patterns.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handcrafted side includes one-hot identity, physicochemical values, disorder propensity, residue groups, terminal position, and rolling-window composition.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final feature vector is a hybrid: 320 ESM-2 dimensions plus 66 handcrafted dimensions per residue.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Walk through the new model from left to right. Inputs are normalized, projected, and then sent through complementary sequence encoders.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Multi-scale convolutions capture local motifs; the Transformer captures long-range residue interactions; the BiLSTM adds sequential context in both directions.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fusion gate is important: instead of simply stacking outputs, the model learns how much to trust local, global, and sequential signals for each residue.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Use this slide to explain why BiLSTM remains useful inside the hybrid model.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A forward LSTM sees previous residues and a backward LSTM sees future residues, so each residue representation includes context from both sides.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gate equations are shown to demonstrate that LSTMs learn what to remember, forget, and output across the protein sequence.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Explain attention as a way for one residue to directly look at other residues in the sequence.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Queries, keys, and values determine which residues are relevant to each other, and multi-head attention lets different heads specialize in different biochemical patterns.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In the updated architecture, attention is implemented through the Transformer encoder component.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Summarize the training choices. Masked BCE ensures padded residues never affect the loss.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class imbalance is handled with softened positive weighting and focal loss, which helps avoid simply predicting too many residues as disordered.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long-run configuration uses up to 100 epochs, waits at least 50 epochs before early stopping, and saves the best checkpoint using a combined validation score.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Make clear that accuracy alone is not enough for this problem because ordered residues can dominate the dataset.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key metrics are APS, ROC-AUC, Fmax, MCC, balanced accuracy, precision, and recall.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final decision threshold is selected on validation data, with MCC as the main threshold criterion because it balances all four confusion matrix cells.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This slide explains what artifacts the notebook produces after training.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Training curves show convergence and overfitting behavior; the precision-recall curve shows ranking quality; the confusion matrix shows the final error types.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prediction trace and custom sequence cell are useful demos because they show residue-by-residue probabilities rather than only aggregate metrics.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Close by summarizing the project as a complete, honest ML pipeline rather than only a single high-score model.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The strongest upgrades are the CAID external test protocol, ESM-2 caching, hybrid architecture, probability smoothing, and validation-selected thresholding.</a:t>
            </a:r>
            <a:endParaRPr lang="en-US" sz="1100"/>
          </a:p>
          <a:p>
            <a:pPr>
              <a:buNone/>
            </a:pPr>
            <a:r>
              <a:rPr lang="en-US" sz="1100">
                <a:solidFill>
                  <a:srgbClr val="000000"/>
                </a:solidFill>
              </a:rPr>
              <a:t>End with the main limitation: a true publication-level benchmark would still require stricter sequence-identity-aware splits and comparison to established disorder predictors.</a:t>
            </a:r>
            <a:endParaRPr lang="en-US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2C39A"/>
                </a:solidFill>
              </a:rPr>
              <a:t>BIOINFORMATICS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Intrinsically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Disordered Protein Regions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A Hybrid Deep Learning Approach: ESM-2 + IDR Features + CNN/Transformer/BiLSTM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</a:rPr>
              <a:t>DisProt · PyTorch · ESM-2 · CAID Metrics</a:t>
            </a:r>
            <a:endParaRPr lang="en-US" sz="1000" dirty="0"/>
          </a:p>
        </p:txBody>
      </p:sp>
      <p:sp>
        <p:nvSpPr>
          <p:cNvPr id="10" name="Presenters"/>
          <p:cNvSpPr/>
          <p:nvPr/>
        </p:nvSpPr>
        <p:spPr>
          <a:xfrm>
            <a:off x="68580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Presenters: Mithilesh Gollapelli · Veera Neerukonda · Sai Srikar Reddy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Protein — and What Is Disorder?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840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ORDERED PROTEIN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Amino acids</a:t>
            </a:r>
            <a:r>
              <a:rPr lang="en-US" sz="1300" dirty="0">
                <a:solidFill>
                  <a:srgbClr val="0A2342"/>
                </a:solidFill>
              </a:rPr>
              <a:t> chain into a precise 3-D structure.
</a:t>
            </a:r>
            <a:r>
              <a:rPr lang="en-US" sz="1300" b="1" dirty="0">
                <a:solidFill>
                  <a:srgbClr val="065A82"/>
                </a:solidFill>
              </a:rPr>
              <a:t>Shape = Function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The folded geometry lets the protein act as an enzyme, carry oxygen, receive signals, or build cell walls.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INTRINSICALLY DISORDERED REGION (IDR)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Some regions </a:t>
            </a:r>
            <a:r>
              <a:rPr lang="en-US" sz="1300" b="1" dirty="0">
                <a:solidFill>
                  <a:srgbClr val="0A2342"/>
                </a:solidFill>
              </a:rPr>
              <a:t>never fold;</a:t>
            </a:r>
            <a:r>
              <a:rPr lang="en-US" sz="1300" dirty="0">
                <a:solidFill>
                  <a:srgbClr val="0A2342"/>
                </a:solidFill>
              </a:rPr>
              <a:t> they stay flexible and floppy inside the cell.
</a:t>
            </a:r>
            <a:r>
              <a:rPr lang="en-US" sz="1300" b="1" dirty="0">
                <a:solidFill>
                  <a:srgbClr val="028090"/>
                </a:solidFill>
              </a:rPr>
              <a:t>Why it matters: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· ~30–40% of the human proteome has IDRs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· Heavily involved in cancer, neurodegeneration, and gene regulation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A2342"/>
                </a:solidFill>
              </a:rPr>
              <a:t>· Hard to study prediction from sequence experimentally is crucial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Task: Residue-Level Binary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solidFill>
            <a:srgbClr val="D6EEF5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580"/>
                </a:solidFill>
              </a:rPr>
              <a:t>Input: Protein Sequence (one letter per amino acid)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23544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3544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544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44168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44168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64792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64792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Q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64792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85416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85416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85416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26664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26664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26664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47288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47288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47288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67912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67912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67912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88536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88536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88536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9784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29784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Q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9784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50408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0408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50408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71032" y="1965960"/>
            <a:ext cx="402336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71032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Q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71032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91656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91656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91656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12280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12280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I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12280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32904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32904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Y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232904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53528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653528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T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653528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74152" y="1965960"/>
            <a:ext cx="4023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74152" y="1965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580"/>
                </a:solidFill>
              </a:rPr>
              <a:t>K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074152" y="24963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80"/>
                </a:solidFill>
              </a:rPr>
              <a:t>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2834640"/>
            <a:ext cx="201168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49808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Disordered (label = 1)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0" y="283464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447288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Ordered (label = 0)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2920" y="3246120"/>
            <a:ext cx="8229600" cy="1554480"/>
          </a:xfrm>
          <a:prstGeom prst="rect">
            <a:avLst/>
          </a:prstGeom>
          <a:solidFill>
            <a:srgbClr val="D6EEF5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31520" y="33375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Key design choice: </a:t>
            </a:r>
            <a:r>
              <a:rPr lang="en-US" sz="1300" dirty="0">
                <a:solidFill>
                  <a:srgbClr val="0A2342"/>
                </a:solidFill>
              </a:rPr>
              <a:t>the split is done at the </a:t>
            </a:r>
            <a:r>
              <a:rPr lang="en-US" sz="1300" b="1" dirty="0">
                <a:solidFill>
                  <a:srgbClr val="0A2342"/>
                </a:solidFill>
              </a:rPr>
              <a:t>protein level</a:t>
            </a:r>
            <a:r>
              <a:rPr lang="en-US" sz="1300" dirty="0">
                <a:solidFill>
                  <a:srgbClr val="0A2342"/>
                </a:solidFill>
              </a:rPr>
              <a:t> (not residue level). If parts of the same protein appear in both train and test, the model memorises per-protein patterns instead of learning general disorder features. We ensure entire proteins stay in one split only.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Source: DisProt + CAID Benchmarks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5176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</a:rPr>
              <a:t>CAID2 → CAID3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580"/>
                </a:solidFill>
              </a:rPr>
              <a:t>Research Split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</a:rPr>
              <a:t>Curated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580"/>
                </a:solidFill>
              </a:rPr>
              <a:t>Residue Labels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65176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Local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580"/>
                </a:solidFill>
              </a:rPr>
              <a:t>Bundled Data Fallback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What Each Entry Contains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1554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protein_id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48840" y="319125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</a:rPr>
              <a:t>DisProt/CAID identifier, e.g. "DP03692"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1554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sequence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7398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</a:rPr>
              <a:t>Full amino acid sequence (standard 20-letter alphabet)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1554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disorder_spans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48840" y="428853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</a:rPr>
              <a:t>Disorder spans or CAID 0/1 labels → converted to residue-level targets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ESM-2 + Handcrafted IDR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794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7947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HANDCRAFTED IDR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34290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One-Hot Encoding
</a:t>
            </a:r>
            <a:r>
              <a:rPr lang="en-US" sz="1200" dirty="0">
                <a:solidFill>
                  <a:srgbClr val="0A2342"/>
                </a:solidFill>
              </a:rPr>
              <a:t>One-hot identity plus IDR propensity, residue groups, position, terminal distance, and rolling-window composition.
</a:t>
            </a:r>
            <a:r>
              <a:rPr lang="en-US" sz="1200" b="1" dirty="0">
                <a:solidFill>
                  <a:srgbClr val="0A2342"/>
                </a:solidFill>
              </a:rPr>
              <a:t>Physicochemical Features
</a:t>
            </a:r>
            <a:r>
              <a:rPr lang="en-US" sz="1200" dirty="0">
                <a:solidFill>
                  <a:srgbClr val="0A2342"/>
                </a:solidFill>
              </a:rPr>
              <a:t>Physicochemical values stay in the model, but are now combined with local sequence-context windows.
</a:t>
            </a:r>
            <a:r>
              <a:rPr lang="en-US" sz="1200" b="1" dirty="0">
                <a:solidFill>
                  <a:srgbClr val="64748B"/>
                </a:solidFill>
              </a:rPr>
              <a:t>Total: 66 handcrafted dimensions per residue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114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2344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ESM-2 + IDR HYBRID  ★ 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709928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Protein Language Model
</a:t>
            </a:r>
            <a:r>
              <a:rPr lang="en-US" sz="1200" dirty="0">
                <a:solidFill>
                  <a:srgbClr val="0A2342"/>
                </a:solidFill>
              </a:rPr>
              <a:t>Pre-trained on 250M protein sequences (UniRef50).
Learns biochemistry through masked-token prediction.
</a:t>
            </a:r>
            <a:r>
              <a:rPr lang="en-US" sz="1200" b="1" dirty="0">
                <a:solidFill>
                  <a:srgbClr val="0A2342"/>
                </a:solidFill>
              </a:rPr>
              <a:t>Context-Aware Embedding
</a:t>
            </a:r>
            <a:r>
              <a:rPr lang="en-US" sz="1200" dirty="0">
                <a:solidFill>
                  <a:srgbClr val="0A2342"/>
                </a:solidFill>
              </a:rPr>
              <a:t>Each residue → 320-dimensional context-aware ESM-2 vector, concatenated with the 66 handcrafted IDR features.
</a:t>
            </a:r>
            <a:r>
              <a:rPr lang="en-US" sz="1200" b="1" dirty="0">
                <a:solidFill>
                  <a:srgbClr val="028090"/>
                </a:solidFill>
              </a:rPr>
              <a:t>Total: 386 dimensions per residue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MODEL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ResearchHybridDisorderNet: Hybrid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26187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L × 386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(ESM-2 + handcrafted IDR features)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36776" y="1892808"/>
            <a:ext cx="100584" cy="914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46504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46504" y="1417320"/>
            <a:ext cx="126187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46504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LayerNorm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46504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Normalises 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residue's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1892808"/>
            <a:ext cx="100584" cy="914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27248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27248" y="1417320"/>
            <a:ext cx="126187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27248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Multi-Scale Conv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27248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kernels 3 / 7 / 15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Local IDR motifs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98264" y="1892808"/>
            <a:ext cx="100584" cy="914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07992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07992" y="1417320"/>
            <a:ext cx="126187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07992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Transformer Encoder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07992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2 layers · 4 heads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Global residue 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79008" y="1892808"/>
            <a:ext cx="100584" cy="914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88736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88736" y="1417320"/>
            <a:ext cx="126187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88736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2-Layer BiLSTM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88736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Bidirectional sequence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context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9752" y="1892808"/>
            <a:ext cx="100584" cy="914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69480" y="1417320"/>
            <a:ext cx="126187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69480" y="1417320"/>
            <a:ext cx="126187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69480" y="1417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Gate + MLP Head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9480" y="1655064"/>
            <a:ext cx="126187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local/global/seq →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Disorder logit per residue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697480"/>
            <a:ext cx="8412480" cy="1417320"/>
          </a:xfrm>
          <a:prstGeom prst="rect">
            <a:avLst/>
          </a:prstGeom>
          <a:solidFill>
            <a:srgbClr val="D6EEF5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Improved from original:  </a:t>
            </a:r>
            <a:r>
              <a:rPr lang="en-US" sz="1200" dirty="0">
                <a:solidFill>
                  <a:srgbClr val="9CA3AF"/>
                </a:solidFill>
              </a:rPr>
              <a:t>BiLSTM + attention baseline → </a:t>
            </a:r>
            <a:r>
              <a:rPr lang="en-US" sz="1200" b="1" dirty="0">
                <a:solidFill>
                  <a:srgbClr val="028090"/>
                </a:solidFill>
              </a:rPr>
              <a:t>ESM-2 + handcrafted features, multi-scale CNN, Transformer, BiLSTM, learned fusion gate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3375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</a:rPr>
              <a:t>CNN captures local disorder motifs at multiple widths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</a:rPr>
              <a:t>Transformer captures long-range residue interactions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</a:rPr>
              <a:t>Fusion gate learns how much to trust local, global, and sequential signals</a:t>
            </a:r>
            <a:r>
              <a:rPr lang="en-US" sz="1100" dirty="0" err="1">
                <a:solidFill>
                  <a:srgbClr val="0A2342"/>
                </a:solidFill>
              </a:rPr>
              <a:t>Masking:</a:t>
            </a:r>
            <a:r>
              <a:rPr lang="en-US" sz="1100" dirty="0">
                <a:solidFill>
                  <a:srgbClr val="0A2342"/>
                </a:solidFill>
              </a:rPr>
              <a:t>padded residues never affect attention weights or loss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ARCHITECTURE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Bidirectional LSTM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40480" cy="3474720"/>
          </a:xfrm>
          <a:prstGeom prst="rect">
            <a:avLst/>
          </a:prstGeom>
          <a:solidFill>
            <a:srgbClr val="0A2342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LSTM Gate Equations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764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σ(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·[h_{t-1},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r>
              <a:rPr lang="en-US" sz="10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20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C4"/>
                </a:solidFill>
              </a:rPr>
              <a:t>Forget gate — what to erase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951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2951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σ(W_i·[h_{t-1}, x_t] + b_i)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51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C4"/>
                </a:solidFill>
              </a:rPr>
              <a:t>Input gate — what to write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25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825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tanh(W_g·[h_{t-1}, x_t] + b_g)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81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C4"/>
                </a:solidFill>
              </a:rPr>
              <a:t>Candidate update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3558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f_t ⊙ c_{t-1} + i_t ⊙ g_t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C4"/>
                </a:solidFill>
              </a:rPr>
              <a:t>New cell (memory tape)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o_t ⊙ tanh(c_t)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42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C4"/>
                </a:solidFill>
              </a:rPr>
              <a:t>New hidden state (output)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23444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Why Bidirectionality?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737360"/>
            <a:ext cx="3749040" cy="320040"/>
          </a:xfrm>
          <a:prstGeom prst="rect">
            <a:avLst/>
          </a:prstGeom>
          <a:solidFill>
            <a:srgbClr val="D6EEF5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A82"/>
                </a:solidFill>
              </a:rPr>
              <a:t>→  Forward LSTM  (left to right: past context only)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21408"/>
            <a:ext cx="3749040" cy="320040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</a:rPr>
              <a:t>←  Backward LSTM  (right to left: future context)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374904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Concatenated: 256-dim representation with FULL context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971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Two layers:</a:t>
            </a:r>
            <a:r>
              <a:rPr lang="en-US" sz="1200" dirty="0">
                <a:solidFill>
                  <a:srgbClr val="0A2342"/>
                </a:solidFill>
              </a:rPr>
              <a:t> Layer 1 learns local patterns (individual amino acid preferences); Layer 2 learns higher-order motifs built from those patterns.
</a:t>
            </a:r>
            <a:r>
              <a:rPr lang="en-US" sz="1200" b="1" dirty="0">
                <a:solidFill>
                  <a:srgbClr val="0A2342"/>
                </a:solidFill>
              </a:rPr>
              <a:t>Inter-layer dropout (20%)</a:t>
            </a:r>
            <a:r>
              <a:rPr lang="en-US" sz="1200" dirty="0">
                <a:solidFill>
                  <a:srgbClr val="0A2342"/>
                </a:solidFill>
              </a:rPr>
              <a:t> randomly zeros neurons between layers, preventing the network from relying on any single neuron — improves generalisation.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ARCHITECTURE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Self-Attention: Global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229600" cy="1051560"/>
          </a:xfrm>
          <a:prstGeom prst="rect">
            <a:avLst/>
          </a:prstGeom>
          <a:solidFill>
            <a:srgbClr val="0A2342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Attention Score (i→j):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score(i,j) = (Q_i · K_j) / √d_k     →     softmax     →     output_i = Σ α_{i,j} · V_j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2450592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651760"/>
            <a:ext cx="6400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Q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090672"/>
            <a:ext cx="2450592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"What am I looking for?"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Projection of the current residue — represents its information need.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10712" y="245059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10712" y="2670048"/>
            <a:ext cx="6400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6908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Key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3118104"/>
            <a:ext cx="2450592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"What do I offer?"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Projection of every other residue — what information it can provide.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2316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91072" y="245059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1072" y="2670048"/>
            <a:ext cx="640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V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3136392"/>
            <a:ext cx="245059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"What is my actual content?"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The information that flows if attention weight is high.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8229600" cy="640080"/>
          </a:xfrm>
          <a:prstGeom prst="rect">
            <a:avLst/>
          </a:prstGeom>
          <a:solidFill>
            <a:srgbClr val="D6EEF5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4 heads</a:t>
            </a:r>
            <a:r>
              <a:rPr lang="en-US" sz="1200" dirty="0">
                <a:solidFill>
                  <a:srgbClr val="0A2342"/>
                </a:solidFill>
              </a:rPr>
              <a:t> run in parallel, each with 64-dim projections (= 256 / 4). Each head can specialise — one might track charged-residue clusters, another hydrophobic patches. Outputs are concatenated and projected back to 256.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Loss, Optimiser, and Scheduler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0690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0690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⚖  Masked BCE Loss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636776"/>
            <a:ext cx="3840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BCEWithLogitsLoss — numerically stable sigmoid + cross-entropy fused.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Softened pos_weight plus focal BCE handles imbalance without over-predicting disorder.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Padded positions are masked to zero before averaging — they never affect the gradient.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0690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40690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AdamW Optimiser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6048" y="1636776"/>
            <a:ext cx="3840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Tracks moving averages of gradients (momentum) and squared gradients (adaptive LR).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Weight decay applied directly to weights — not through the gradient — which is the theoretically correct form of L2 regularisation with Adam.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40690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✂  Gradient Clipping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" y="3602736"/>
            <a:ext cx="3840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Before every weight update, the total gradient norm is measured. If it exceeds 1.0, all gradients are scaled down proportionally.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Prevents 'gradient explosions' that can destabilise LSTM training.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40690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200400"/>
            <a:ext cx="40690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📉  ReduceLROnPlateau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3602736"/>
            <a:ext cx="384048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Monitors validation loss. If it plateaus for 3 epochs, the learning rate is halved (min lr = 1e-5).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Allows fast early progress and fine-tuned convergence later while the checkpoint score tracks ranking + threshold metrics.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solidFill>
            <a:srgbClr val="D6EEF5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7000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Early stopping: </a:t>
            </a:r>
            <a:r>
              <a:rPr lang="en-US" sz="1100" dirty="0">
                <a:solidFill>
                  <a:srgbClr val="0A2342"/>
                </a:solidFill>
              </a:rPr>
              <a:t>100 epochs max · minimum 50 before early stop · patience 20 · best checkpoint saved by combined APS/Fmax/MCC/ROC-AUC score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+ Validation-Selected Threshold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463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261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Average Precision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508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Area under Precision-Recall curve. Best for imbalanced classes — reported for ranking, not used alone for checkpointing.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8836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Area Under ROC Curve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1305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P(disordered residue ranked above ordered residue). Insensitive to threshold choice. Useful overall discriminability measure.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78024"/>
            <a:ext cx="1463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4780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 / Fmax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505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F1 at best threshold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7523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Harmonic mean of Precision &amp; Recall. Fmax = maximum F1 across all thresholds. Standard metric in CAID community benchmark.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99816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998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127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Matthews Correlation Coeff.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3374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Uses all 4 confusion matrix cells; robust to imbalance. Also used to select the final validation threshold.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1463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721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Balanced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Mean of Recall + Specificity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39959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(Sensitivity + Specificity) / 2. Treats both classes equally regardless of class frequency.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1463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Precision / 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At validation-selected threshold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46177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0"/>
                </a:solidFill>
              </a:rPr>
              <a:t>Reported after validation threshold tuning; avoids pretending threshold 0.5 is always optimal for imbalanced residue labels.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8090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Produces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3807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Training Curves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73736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Loss, APS, ROC-AUC, and LR plotted across epochs. Confirms convergence and shows when ReduceLROnPlateau fires.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93008" y="13807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Precision-Recall Curve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73736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Full precision/recall trade-off across all thresholds. APS (area) is the primary metric — robust to class imbalance.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3368" y="13807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173736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TP/TN/FP/FN counts at the validation-selected threshold. Reveals whether errors are more often missed IDRs (FN) or false alarms (FP).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26517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3300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Per-Protein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" y="365760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F1, MCC, APS computed individually for each test protein — exposes which proteins are hardest to predict and why.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31546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3008" y="3300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Sample Prediction Trace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65760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Raw and smoothed disorder probabilities plotted against true labels for a single protein — residue-by-residue visual check.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1546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315468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73368" y="33009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Custom Sequence Predict.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3368" y="3657600"/>
            <a:ext cx="24231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</a:rPr>
              <a:t>Any valid amino acid sequence can be fed to the trained model to get per-residue disorder probabilities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314700"/>
            <a:ext cx="411480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2C39A"/>
                </a:solidFill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Data: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5361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DisProt primary; bundled CAID2/CAID3 fallback with CAID2 train/val → CAID3 external test when available.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8001000" cy="13716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Features: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06654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ESM-2 320-d embeddings + 66 handcrafted IDR features, cached locally for repeat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459736"/>
            <a:ext cx="8001000" cy="13716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5968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Architecture: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59689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Multi-scale CNN → Transformer encoder → BiLSTM → learned fusion gate → GELU MLP head.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990088"/>
            <a:ext cx="8001000" cy="13716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Training: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1272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Softened focal BCE · AdamW · gradient clipping · scheduler · 100-epoch long run · combined checkpoint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20440"/>
            <a:ext cx="8001000" cy="13716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Evaluation: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657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APS, ROC-AUC, Fmax, MCC, Balanced Accuracy, Precision/Recall plus threshold comparison.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050792"/>
            <a:ext cx="8001000" cy="13716"/>
          </a:xfrm>
          <a:prstGeom prst="rect">
            <a:avLst/>
          </a:prstGeom>
          <a:solidFill>
            <a:srgbClr val="1C3F60"/>
          </a:solidFill>
          <a:ln w="12700">
            <a:solidFill>
              <a:srgbClr val="1C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187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Code quality: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41879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Local CAID files, ESM cache, probability smoothing, reproducibility seeds, and clean modular cells.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2344</Words>
  <Application>Microsoft Macintosh PowerPoint</Application>
  <PresentationFormat>On-screen Show (16:9)</PresentationFormat>
  <Paragraphs>263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Intrinsically Disordered Protein Regions</dc:title>
  <dc:subject>PptxGenJS Presentation</dc:subject>
  <dc:creator>PptxGenJS</dc:creator>
  <cp:lastModifiedBy>Kolli, Sai Srikar Reddy (MU-Student)</cp:lastModifiedBy>
  <cp:revision>3</cp:revision>
  <dcterms:created xsi:type="dcterms:W3CDTF">2026-05-03T22:26:09Z</dcterms:created>
  <dcterms:modified xsi:type="dcterms:W3CDTF">2026-05-04T01:36:32Z</dcterms:modified>
</cp:coreProperties>
</file>